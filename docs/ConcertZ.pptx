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true" autoCompressPictures="0" embedTrueTypeFonts="true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9144000" cy="5143500"/>
  <p:notesSz cx="5143500" cy="9144000"/>
  <p:embeddedFontLst>
    <p:embeddedFont>
      <p:font typeface="Source Sans 3 ExtraLight"/>
      <p:regular r:id="rId201314"/>
    </p:embeddedFont>
    <p:embeddedFont>
      <p:font typeface="Source Sans 3 Light"/>
      <p:regular r:id="rId201315"/>
    </p:embeddedFont>
    <p:embeddedFont>
      <p:font typeface="Source Sans 3"/>
      <p:regular r:id="rId201316"/>
    </p:embeddedFont>
    <p:embeddedFont>
      <p:font typeface="Source Sans 3 Medium"/>
      <p:regular r:id="rId201317"/>
    </p:embeddedFont>
    <p:embeddedFont>
      <p:font typeface="Source Sans 3 SemiBold"/>
      <p:regular r:id="rId201318"/>
    </p:embeddedFont>
    <p:embeddedFont>
      <p:font typeface="Source Sans 3 Bold"/>
      <p:regular r:id="rId201319"/>
    </p:embeddedFont>
    <p:embeddedFont>
      <p:font typeface="Source Sans 3 ExtraBold"/>
      <p:regular r:id="rId201320"/>
    </p:embeddedFont>
    <p:embeddedFont>
      <p:font typeface="Source Sans 3 Black"/>
      <p:regular r:id="rId201321"/>
    </p:embeddedFont>
    <p:embeddedFont>
      <p:font typeface="Source Serif 4 ExtraLight"/>
      <p:regular r:id="rId201322"/>
    </p:embeddedFont>
    <p:embeddedFont>
      <p:font typeface="Source Serif 4 Light"/>
      <p:regular r:id="rId201323"/>
    </p:embeddedFont>
    <p:embeddedFont>
      <p:font typeface="Source Serif 4"/>
      <p:regular r:id="rId201324"/>
    </p:embeddedFont>
    <p:embeddedFont>
      <p:font typeface="Source Serif 4 Medium"/>
      <p:regular r:id="rId201325"/>
    </p:embeddedFont>
    <p:embeddedFont>
      <p:font typeface="Source Serif 4 SemiBold"/>
      <p:regular r:id="rId201326"/>
    </p:embeddedFont>
    <p:embeddedFont>
      <p:font typeface="Source Serif 4 Bold"/>
      <p:regular r:id="rId201327"/>
    </p:embeddedFont>
    <p:embeddedFont>
      <p:font typeface="Source Serif 4 ExtraBold"/>
      <p:regular r:id="rId201328"/>
    </p:embeddedFont>
    <p:embeddedFont>
      <p:font typeface="Source Serif 4 Black"/>
      <p:regular r:id="rId201329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Relationship Id="rId201314" Target="fonts/201314.fntdata" Type="http://schemas.openxmlformats.org/officeDocument/2006/relationships/font"/><Relationship Id="rId201315" Target="fonts/201315.fntdata" Type="http://schemas.openxmlformats.org/officeDocument/2006/relationships/font"/><Relationship Id="rId201316" Target="fonts/201316.fntdata" Type="http://schemas.openxmlformats.org/officeDocument/2006/relationships/font"/><Relationship Id="rId201317" Target="fonts/201317.fntdata" Type="http://schemas.openxmlformats.org/officeDocument/2006/relationships/font"/><Relationship Id="rId201318" Target="fonts/201318.fntdata" Type="http://schemas.openxmlformats.org/officeDocument/2006/relationships/font"/><Relationship Id="rId201319" Target="fonts/201319.fntdata" Type="http://schemas.openxmlformats.org/officeDocument/2006/relationships/font"/><Relationship Id="rId201320" Target="fonts/201320.fntdata" Type="http://schemas.openxmlformats.org/officeDocument/2006/relationships/font"/><Relationship Id="rId201321" Target="fonts/201321.fntdata" Type="http://schemas.openxmlformats.org/officeDocument/2006/relationships/font"/><Relationship Id="rId201322" Target="fonts/201322.fntdata" Type="http://schemas.openxmlformats.org/officeDocument/2006/relationships/font"/><Relationship Id="rId201323" Target="fonts/201323.fntdata" Type="http://schemas.openxmlformats.org/officeDocument/2006/relationships/font"/><Relationship Id="rId201324" Target="fonts/201324.fntdata" Type="http://schemas.openxmlformats.org/officeDocument/2006/relationships/font"/><Relationship Id="rId201325" Target="fonts/201325.fntdata" Type="http://schemas.openxmlformats.org/officeDocument/2006/relationships/font"/><Relationship Id="rId201326" Target="fonts/201326.fntdata" Type="http://schemas.openxmlformats.org/officeDocument/2006/relationships/font"/><Relationship Id="rId201327" Target="fonts/201327.fntdata" Type="http://schemas.openxmlformats.org/officeDocument/2006/relationships/font"/><Relationship Id="rId201328" Target="fonts/201328.fntdata" Type="http://schemas.openxmlformats.org/officeDocument/2006/relationships/font"/><Relationship Id="rId201329" Target="fonts/201329.fntdata" Type="http://schemas.openxmlformats.org/officeDocument/2006/relationships/font"/><Relationship Id="rId201330" Target="fonts/201330.fntdata" Type="http://schemas.openxmlformats.org/officeDocument/2006/relationships/font"/><Relationship Id="rId201331" Target="fonts/201331.fntdata" Type="http://schemas.openxmlformats.org/officeDocument/2006/relationships/font"/><Relationship Id="rId201332" Target="fonts/201332.fntdata" Type="http://schemas.openxmlformats.org/officeDocument/2006/relationships/font"/><Relationship Id="rId201333" Target="fonts/201333.fntdata" Type="http://schemas.openxmlformats.org/officeDocument/2006/relationships/font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2-1.jpeg"/><Relationship Id="rId2" Type="http://schemas.openxmlformats.org/officeDocument/2006/relationships/image" Target="../media/image-1002-2.png"/><Relationship Id="rId4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jpeg"/><Relationship Id="rId2" Type="http://schemas.openxmlformats.org/officeDocument/2006/relationships/image" Target="../media/image-2-2.png"/><Relationship Id="rId3" Type="http://schemas.openxmlformats.org/officeDocument/2006/relationships/image" Target="../media/image-2-3.svg"/><Relationship Id="rId4" Type="http://schemas.openxmlformats.org/officeDocument/2006/relationships/image" Target="../media/image-2-4.png"/><Relationship Id="rId5" Type="http://schemas.openxmlformats.org/officeDocument/2006/relationships/image" Target="../media/image-2-5.svg"/><Relationship Id="rId6" Type="http://schemas.openxmlformats.org/officeDocument/2006/relationships/image" Target="../media/image-2-6.png"/><Relationship Id="rId7" Type="http://schemas.openxmlformats.org/officeDocument/2006/relationships/image" Target="../media/image-2-7.svg"/><Relationship Id="rId8" Type="http://schemas.openxmlformats.org/officeDocument/2006/relationships/slideLayout" Target="../slideLayouts/slideLayout2.xml"/><Relationship Id="rId9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jpeg"/><Relationship Id="rId2" Type="http://schemas.openxmlformats.org/officeDocument/2006/relationships/image" Target="../media/image-3-2.png"/><Relationship Id="rId3" Type="http://schemas.openxmlformats.org/officeDocument/2006/relationships/image" Target="../media/image-3-3.svg"/><Relationship Id="rId4" Type="http://schemas.openxmlformats.org/officeDocument/2006/relationships/image" Target="../media/image-3-2.png"/><Relationship Id="rId5" Type="http://schemas.openxmlformats.org/officeDocument/2006/relationships/image" Target="../media/image-3-3.svg"/><Relationship Id="rId6" Type="http://schemas.openxmlformats.org/officeDocument/2006/relationships/image" Target="../media/image-3-2.png"/><Relationship Id="rId7" Type="http://schemas.openxmlformats.org/officeDocument/2006/relationships/image" Target="../media/image-3-3.svg"/><Relationship Id="rId8" Type="http://schemas.openxmlformats.org/officeDocument/2006/relationships/slideLayout" Target="../slideLayouts/slideLayout2.xml"/><Relationship Id="rId9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jpeg"/><Relationship Id="rId2" Type="http://schemas.openxmlformats.org/officeDocument/2006/relationships/image" Target="../media/image-4-2.jpeg"/><Relationship Id="rId3" Type="http://schemas.openxmlformats.org/officeDocument/2006/relationships/image" Target="../media/image-4-3.jpeg"/><Relationship Id="rId4" Type="http://schemas.openxmlformats.org/officeDocument/2006/relationships/slideLayout" Target="../slideLayouts/slideLayout2.xml"/><Relationship Id="rId5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jpeg"/><Relationship Id="rId2" Type="http://schemas.openxmlformats.org/officeDocument/2006/relationships/image" Target="../media/image-5-2.png"/><Relationship Id="rId3" Type="http://schemas.openxmlformats.org/officeDocument/2006/relationships/image" Target="../media/image-5-3.svg"/><Relationship Id="rId4" Type="http://schemas.openxmlformats.org/officeDocument/2006/relationships/image" Target="../media/image-5-2.png"/><Relationship Id="rId5" Type="http://schemas.openxmlformats.org/officeDocument/2006/relationships/image" Target="../media/image-5-3.svg"/><Relationship Id="rId6" Type="http://schemas.openxmlformats.org/officeDocument/2006/relationships/image" Target="../media/image-5-2.png"/><Relationship Id="rId7" Type="http://schemas.openxmlformats.org/officeDocument/2006/relationships/image" Target="../media/image-5-3.svg"/><Relationship Id="rId8" Type="http://schemas.openxmlformats.org/officeDocument/2006/relationships/slideLayout" Target="../slideLayouts/slideLayout2.xml"/><Relationship Id="rId9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3429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952577" y="1660475"/>
            <a:ext cx="4667845" cy="88002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750" dirty="0">
                <a:solidFill>
                  <a:srgbClr val="D73AD7"/>
                </a:solidFill>
                <a:latin typeface="Source Serif 4 SemiBold" pitchFamily="34" charset="0"/>
                <a:ea typeface="Source Serif 4 SemiBold" pitchFamily="34" charset="-122"/>
                <a:cs typeface="Source Serif 4 SemiBold" pitchFamily="34" charset="-120"/>
              </a:rPr>
              <a:t>Concertz: The Future of Event Management</a:t>
            </a:r>
            <a:endParaRPr lang="en-US" sz="2750" dirty="0"/>
          </a:p>
        </p:txBody>
      </p:sp>
      <p:sp>
        <p:nvSpPr>
          <p:cNvPr id="4" name="Text 1"/>
          <p:cNvSpPr/>
          <p:nvPr/>
        </p:nvSpPr>
        <p:spPr>
          <a:xfrm>
            <a:off x="3952577" y="2764854"/>
            <a:ext cx="4667845" cy="7181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50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A unified SaaS platform designed to streamline concert production — empowering hosts, maintainers, and attendees through intelligent, role-based orchestration.</a:t>
            </a:r>
            <a:endParaRPr lang="en-US" sz="11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15000" y="0"/>
            <a:ext cx="3429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23577" y="415007"/>
            <a:ext cx="4667845" cy="7698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400" dirty="0">
                <a:solidFill>
                  <a:srgbClr val="D73AD7"/>
                </a:solidFill>
                <a:latin typeface="Source Serif 4 SemiBold" pitchFamily="34" charset="0"/>
                <a:ea typeface="Source Serif 4 SemiBold" pitchFamily="34" charset="-122"/>
                <a:cs typeface="Source Serif 4 SemiBold" pitchFamily="34" charset="-120"/>
              </a:rPr>
              <a:t>Defining the Roles: Who Does What?</a:t>
            </a:r>
            <a:endParaRPr lang="en-US" sz="2400" dirty="0"/>
          </a:p>
        </p:txBody>
      </p:sp>
      <p:sp>
        <p:nvSpPr>
          <p:cNvPr id="4" name="Shape 1"/>
          <p:cNvSpPr/>
          <p:nvPr/>
        </p:nvSpPr>
        <p:spPr>
          <a:xfrm>
            <a:off x="523577" y="1356643"/>
            <a:ext cx="2276624" cy="1824930"/>
          </a:xfrm>
          <a:prstGeom prst="roundRect">
            <a:avLst>
              <a:gd name="adj" fmla="val 3013"/>
            </a:avLst>
          </a:prstGeom>
          <a:solidFill>
            <a:srgbClr val="F4D4F7"/>
          </a:solidFill>
          <a:ln w="4763">
            <a:solidFill>
              <a:srgbClr val="DABADD"/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659234" y="1492300"/>
            <a:ext cx="392683" cy="392683"/>
          </a:xfrm>
          <a:prstGeom prst="ellipse">
            <a:avLst/>
          </a:prstGeom>
          <a:solidFill>
            <a:srgbClr val="AF41F0"/>
          </a:solidFill>
          <a:ln/>
        </p:spPr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67209" y="1600274"/>
            <a:ext cx="176659" cy="176659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659234" y="1999506"/>
            <a:ext cx="1540073" cy="1925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00" dirty="0">
                <a:solidFill>
                  <a:srgbClr val="272525"/>
                </a:solidFill>
                <a:latin typeface="Source Serif 4 SemiBold" pitchFamily="34" charset="0"/>
                <a:ea typeface="Source Serif 4 SemiBold" pitchFamily="34" charset="-122"/>
                <a:cs typeface="Source Serif 4 SemiBold" pitchFamily="34" charset="-120"/>
              </a:rPr>
              <a:t>Host</a:t>
            </a:r>
            <a:endParaRPr lang="en-US" sz="1200" dirty="0"/>
          </a:p>
        </p:txBody>
      </p:sp>
      <p:sp>
        <p:nvSpPr>
          <p:cNvPr id="8" name="Text 4"/>
          <p:cNvSpPr/>
          <p:nvPr/>
        </p:nvSpPr>
        <p:spPr>
          <a:xfrm>
            <a:off x="659234" y="2260699"/>
            <a:ext cx="2005310" cy="78521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Orchestrates the event vision, assigns team responsibilities, and oversees financial health from a central dashboard.</a:t>
            </a:r>
            <a:endParaRPr lang="en-US" sz="1000" dirty="0"/>
          </a:p>
        </p:txBody>
      </p:sp>
      <p:sp>
        <p:nvSpPr>
          <p:cNvPr id="9" name="Shape 5"/>
          <p:cNvSpPr/>
          <p:nvPr/>
        </p:nvSpPr>
        <p:spPr>
          <a:xfrm>
            <a:off x="2914724" y="1356643"/>
            <a:ext cx="2276698" cy="1824930"/>
          </a:xfrm>
          <a:prstGeom prst="roundRect">
            <a:avLst>
              <a:gd name="adj" fmla="val 3013"/>
            </a:avLst>
          </a:prstGeom>
          <a:solidFill>
            <a:srgbClr val="F4D4F7"/>
          </a:solidFill>
          <a:ln w="4763">
            <a:solidFill>
              <a:srgbClr val="DABADD"/>
            </a:solidFill>
            <a:prstDash val="solid"/>
          </a:ln>
        </p:spPr>
      </p:sp>
      <p:sp>
        <p:nvSpPr>
          <p:cNvPr id="10" name="Shape 6"/>
          <p:cNvSpPr/>
          <p:nvPr/>
        </p:nvSpPr>
        <p:spPr>
          <a:xfrm>
            <a:off x="3050381" y="1492300"/>
            <a:ext cx="392683" cy="392683"/>
          </a:xfrm>
          <a:prstGeom prst="ellipse">
            <a:avLst/>
          </a:prstGeom>
          <a:solidFill>
            <a:srgbClr val="AF41F0"/>
          </a:solidFill>
          <a:ln/>
        </p:spPr>
      </p:sp>
      <p:pic>
        <p:nvPicPr>
          <p:cNvPr id="11" name="Image 2" descr="preencoded.png">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3158356" y="1600274"/>
            <a:ext cx="176659" cy="176659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3050381" y="1999506"/>
            <a:ext cx="1540073" cy="1925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00" dirty="0">
                <a:solidFill>
                  <a:srgbClr val="272525"/>
                </a:solidFill>
                <a:latin typeface="Source Serif 4 SemiBold" pitchFamily="34" charset="0"/>
                <a:ea typeface="Source Serif 4 SemiBold" pitchFamily="34" charset="-122"/>
                <a:cs typeface="Source Serif 4 SemiBold" pitchFamily="34" charset="-120"/>
              </a:rPr>
              <a:t>Maintainers</a:t>
            </a:r>
            <a:endParaRPr lang="en-US" sz="1200" dirty="0"/>
          </a:p>
        </p:txBody>
      </p:sp>
      <p:sp>
        <p:nvSpPr>
          <p:cNvPr id="13" name="Text 8"/>
          <p:cNvSpPr/>
          <p:nvPr/>
        </p:nvSpPr>
        <p:spPr>
          <a:xfrm>
            <a:off x="3050381" y="2260699"/>
            <a:ext cx="2005385" cy="78521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The backbone team managing logistics, equipment, and on-site operations to keep every show running smoothly.</a:t>
            </a:r>
            <a:endParaRPr lang="en-US" sz="1000" dirty="0"/>
          </a:p>
        </p:txBody>
      </p:sp>
      <p:sp>
        <p:nvSpPr>
          <p:cNvPr id="14" name="Shape 9"/>
          <p:cNvSpPr/>
          <p:nvPr/>
        </p:nvSpPr>
        <p:spPr>
          <a:xfrm>
            <a:off x="523577" y="3296096"/>
            <a:ext cx="4667845" cy="1432322"/>
          </a:xfrm>
          <a:prstGeom prst="roundRect">
            <a:avLst>
              <a:gd name="adj" fmla="val 3839"/>
            </a:avLst>
          </a:prstGeom>
          <a:solidFill>
            <a:srgbClr val="F4D4F7"/>
          </a:solidFill>
          <a:ln w="4763">
            <a:solidFill>
              <a:srgbClr val="DABADD"/>
            </a:solidFill>
            <a:prstDash val="solid"/>
          </a:ln>
        </p:spPr>
      </p:sp>
      <p:sp>
        <p:nvSpPr>
          <p:cNvPr id="15" name="Shape 10"/>
          <p:cNvSpPr/>
          <p:nvPr/>
        </p:nvSpPr>
        <p:spPr>
          <a:xfrm>
            <a:off x="659234" y="3431753"/>
            <a:ext cx="392683" cy="392683"/>
          </a:xfrm>
          <a:prstGeom prst="ellipse">
            <a:avLst/>
          </a:prstGeom>
          <a:solidFill>
            <a:srgbClr val="AF41F0"/>
          </a:solidFill>
          <a:ln/>
        </p:spPr>
      </p:sp>
      <p:pic>
        <p:nvPicPr>
          <p:cNvPr id="16" name="Image 3" descr="preencoded.png">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767209" y="3539728"/>
            <a:ext cx="176659" cy="176659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659234" y="3938960"/>
            <a:ext cx="1540073" cy="1925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00" dirty="0">
                <a:solidFill>
                  <a:srgbClr val="272525"/>
                </a:solidFill>
                <a:latin typeface="Source Serif 4 SemiBold" pitchFamily="34" charset="0"/>
                <a:ea typeface="Source Serif 4 SemiBold" pitchFamily="34" charset="-122"/>
                <a:cs typeface="Source Serif 4 SemiBold" pitchFamily="34" charset="-120"/>
              </a:rPr>
              <a:t>Attendees</a:t>
            </a:r>
            <a:endParaRPr lang="en-US" sz="1200" dirty="0"/>
          </a:p>
        </p:txBody>
      </p:sp>
      <p:sp>
        <p:nvSpPr>
          <p:cNvPr id="18" name="Text 12"/>
          <p:cNvSpPr/>
          <p:nvPr/>
        </p:nvSpPr>
        <p:spPr>
          <a:xfrm>
            <a:off x="659234" y="4200153"/>
            <a:ext cx="4396532" cy="39260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The audience enjoying a seamless, frictionless experience — from discovering events to walking through the gates.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23577" y="415082"/>
            <a:ext cx="7072610" cy="35063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200" dirty="0">
                <a:solidFill>
                  <a:srgbClr val="D73AD7"/>
                </a:solidFill>
                <a:latin typeface="Source Serif 4 SemiBold" pitchFamily="34" charset="0"/>
                <a:ea typeface="Source Serif 4 SemiBold" pitchFamily="34" charset="-122"/>
                <a:cs typeface="Source Serif 4 SemiBold" pitchFamily="34" charset="-120"/>
              </a:rPr>
              <a:t>The Attendee Experience: From Booking to Entry</a:t>
            </a:r>
            <a:endParaRPr lang="en-US" sz="220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23577" y="1015082"/>
            <a:ext cx="5161136" cy="2924621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980286" y="2175644"/>
            <a:ext cx="1960290" cy="1753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00" dirty="0">
                <a:solidFill>
                  <a:srgbClr val="D73AD7"/>
                </a:solidFill>
                <a:latin typeface="Source Serif 4 SemiBold" pitchFamily="34" charset="0"/>
                <a:ea typeface="Source Serif 4 SemiBold" pitchFamily="34" charset="-122"/>
                <a:cs typeface="Source Serif 4 SemiBold" pitchFamily="34" charset="-120"/>
              </a:rPr>
              <a:t>A Frictionless Journey</a:t>
            </a:r>
            <a:endParaRPr lang="en-US" sz="1100" dirty="0"/>
          </a:p>
        </p:txBody>
      </p:sp>
      <p:sp>
        <p:nvSpPr>
          <p:cNvPr id="5" name="Text 2"/>
          <p:cNvSpPr/>
          <p:nvPr/>
        </p:nvSpPr>
        <p:spPr>
          <a:xfrm>
            <a:off x="5980286" y="2445916"/>
            <a:ext cx="2644825" cy="34260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Concertz removes every barrier between discovery and entry, giving attendees confidence at every step.</a:t>
            </a:r>
            <a:endParaRPr lang="en-US" sz="900" dirty="0"/>
          </a:p>
        </p:txBody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68226" y="4157067"/>
            <a:ext cx="178817" cy="178817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910977" y="4153421"/>
            <a:ext cx="1402556" cy="1753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00" dirty="0">
                <a:solidFill>
                  <a:srgbClr val="272525"/>
                </a:solidFill>
                <a:latin typeface="Source Serif 4 SemiBold" pitchFamily="34" charset="0"/>
                <a:ea typeface="Source Serif 4 SemiBold" pitchFamily="34" charset="-122"/>
                <a:cs typeface="Source Serif 4 SemiBold" pitchFamily="34" charset="-120"/>
              </a:rPr>
              <a:t>Discover</a:t>
            </a:r>
            <a:endParaRPr lang="en-US" sz="1100" dirty="0"/>
          </a:p>
        </p:txBody>
      </p:sp>
      <p:sp>
        <p:nvSpPr>
          <p:cNvPr id="8" name="Text 4"/>
          <p:cNvSpPr/>
          <p:nvPr/>
        </p:nvSpPr>
        <p:spPr>
          <a:xfrm>
            <a:off x="910977" y="4385742"/>
            <a:ext cx="2232422" cy="34260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Browse ongoing concerts through an intuitive, curated dashboard.</a:t>
            </a:r>
            <a:endParaRPr lang="en-US" sz="900" dirty="0"/>
          </a:p>
        </p:txBody>
      </p:sp>
      <p:pic>
        <p:nvPicPr>
          <p:cNvPr id="9" name="Image 2" descr="preencoded.png">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3306738" y="4157067"/>
            <a:ext cx="178817" cy="178817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3649489" y="4153421"/>
            <a:ext cx="1402556" cy="1753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00" dirty="0">
                <a:solidFill>
                  <a:srgbClr val="272525"/>
                </a:solidFill>
                <a:latin typeface="Source Serif 4 SemiBold" pitchFamily="34" charset="0"/>
                <a:ea typeface="Source Serif 4 SemiBold" pitchFamily="34" charset="-122"/>
                <a:cs typeface="Source Serif 4 SemiBold" pitchFamily="34" charset="-120"/>
              </a:rPr>
              <a:t>Book &amp; Receive</a:t>
            </a:r>
            <a:endParaRPr lang="en-US" sz="1100" dirty="0"/>
          </a:p>
        </p:txBody>
      </p:sp>
      <p:sp>
        <p:nvSpPr>
          <p:cNvPr id="11" name="Text 6"/>
          <p:cNvSpPr/>
          <p:nvPr/>
        </p:nvSpPr>
        <p:spPr>
          <a:xfrm>
            <a:off x="3649489" y="4385742"/>
            <a:ext cx="2232422" cy="34260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QR-code tickets are delivered instantly to the attendee's Gmail inbox.</a:t>
            </a:r>
            <a:endParaRPr lang="en-US" sz="900" dirty="0"/>
          </a:p>
        </p:txBody>
      </p:sp>
      <p:pic>
        <p:nvPicPr>
          <p:cNvPr id="12" name="Image 3" descr="preencoded.png">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6045250" y="4157067"/>
            <a:ext cx="178817" cy="178817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6388001" y="4153421"/>
            <a:ext cx="1402556" cy="1753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00" dirty="0">
                <a:solidFill>
                  <a:srgbClr val="272525"/>
                </a:solidFill>
                <a:latin typeface="Source Serif 4 SemiBold" pitchFamily="34" charset="0"/>
                <a:ea typeface="Source Serif 4 SemiBold" pitchFamily="34" charset="-122"/>
                <a:cs typeface="Source Serif 4 SemiBold" pitchFamily="34" charset="-120"/>
              </a:rPr>
              <a:t>Enter</a:t>
            </a:r>
            <a:endParaRPr lang="en-US" sz="1100" dirty="0"/>
          </a:p>
        </p:txBody>
      </p:sp>
      <p:sp>
        <p:nvSpPr>
          <p:cNvPr id="14" name="Text 8"/>
          <p:cNvSpPr/>
          <p:nvPr/>
        </p:nvSpPr>
        <p:spPr>
          <a:xfrm>
            <a:off x="6388001" y="4385742"/>
            <a:ext cx="2232422" cy="34260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Contactless gate validation eliminates queues and counterfeit risks.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23577" y="709464"/>
            <a:ext cx="8096845" cy="88002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750" dirty="0">
                <a:solidFill>
                  <a:srgbClr val="D73AD7"/>
                </a:solidFill>
                <a:latin typeface="Source Serif 4 SemiBold" pitchFamily="34" charset="0"/>
                <a:ea typeface="Source Serif 4 SemiBold" pitchFamily="34" charset="-122"/>
                <a:cs typeface="Source Serif 4 SemiBold" pitchFamily="34" charset="-120"/>
              </a:rPr>
              <a:t>Operational Excellence: The Maintainer's Toolkit</a:t>
            </a:r>
            <a:endParaRPr lang="en-US" sz="2750" dirty="0"/>
          </a:p>
        </p:txBody>
      </p:sp>
      <p:sp>
        <p:nvSpPr>
          <p:cNvPr id="3" name="Text 1"/>
          <p:cNvSpPr/>
          <p:nvPr/>
        </p:nvSpPr>
        <p:spPr>
          <a:xfrm>
            <a:off x="523577" y="1888703"/>
            <a:ext cx="8554045" cy="2393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50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Escorts and staff are equipped with a dedicated mobile interface built for speed, accuracy, and real-time awareness.</a:t>
            </a:r>
            <a:endParaRPr lang="en-US" sz="115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23577" y="2296344"/>
            <a:ext cx="1493044" cy="922734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23577" y="3406080"/>
            <a:ext cx="1760116" cy="2199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272525"/>
                </a:solidFill>
                <a:latin typeface="Source Serif 4 SemiBold" pitchFamily="34" charset="0"/>
                <a:ea typeface="Source Serif 4 SemiBold" pitchFamily="34" charset="-122"/>
                <a:cs typeface="Source Serif 4 SemiBold" pitchFamily="34" charset="-120"/>
              </a:rPr>
              <a:t>Mobile Validation</a:t>
            </a:r>
            <a:endParaRPr lang="en-US" sz="1350" dirty="0"/>
          </a:p>
        </p:txBody>
      </p:sp>
      <p:sp>
        <p:nvSpPr>
          <p:cNvPr id="6" name="Text 3"/>
          <p:cNvSpPr/>
          <p:nvPr/>
        </p:nvSpPr>
        <p:spPr>
          <a:xfrm>
            <a:off x="523577" y="3715792"/>
            <a:ext cx="2574280" cy="7181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50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Dedicated mobile interface for real-time ticket scanning at any gate or checkpoint.</a:t>
            </a:r>
            <a:endParaRPr lang="en-US" sz="1150" dirty="0"/>
          </a:p>
        </p:txBody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84860" y="2296344"/>
            <a:ext cx="1493044" cy="922734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3284860" y="3406080"/>
            <a:ext cx="1760116" cy="2199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272525"/>
                </a:solidFill>
                <a:latin typeface="Source Serif 4 SemiBold" pitchFamily="34" charset="0"/>
                <a:ea typeface="Source Serif 4 SemiBold" pitchFamily="34" charset="-122"/>
                <a:cs typeface="Source Serif 4 SemiBold" pitchFamily="34" charset="-120"/>
              </a:rPr>
              <a:t>Automated Sync</a:t>
            </a:r>
            <a:endParaRPr lang="en-US" sz="1350" dirty="0"/>
          </a:p>
        </p:txBody>
      </p:sp>
      <p:sp>
        <p:nvSpPr>
          <p:cNvPr id="9" name="Text 5"/>
          <p:cNvSpPr/>
          <p:nvPr/>
        </p:nvSpPr>
        <p:spPr>
          <a:xfrm>
            <a:off x="3284860" y="3715792"/>
            <a:ext cx="2574280" cy="7181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50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Every scan is tracked and synced instantly across the platform — no manual updates required.</a:t>
            </a:r>
            <a:endParaRPr lang="en-US" sz="1150" dirty="0"/>
          </a:p>
        </p:txBody>
      </p:sp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46143" y="2296344"/>
            <a:ext cx="1493044" cy="922734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6046143" y="3406080"/>
            <a:ext cx="1760116" cy="2199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272525"/>
                </a:solidFill>
                <a:latin typeface="Source Serif 4 SemiBold" pitchFamily="34" charset="0"/>
                <a:ea typeface="Source Serif 4 SemiBold" pitchFamily="34" charset="-122"/>
                <a:cs typeface="Source Serif 4 SemiBold" pitchFamily="34" charset="-120"/>
              </a:rPr>
              <a:t>Upfront Tips by AI</a:t>
            </a:r>
            <a:endParaRPr lang="en-US" sz="1350" dirty="0"/>
          </a:p>
        </p:txBody>
      </p:sp>
      <p:sp>
        <p:nvSpPr>
          <p:cNvPr id="12" name="Text 7"/>
          <p:cNvSpPr/>
          <p:nvPr/>
        </p:nvSpPr>
        <p:spPr>
          <a:xfrm>
            <a:off x="6046143" y="3715792"/>
            <a:ext cx="2574280" cy="7181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50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Optimized for peak entry periods, gives insights to reduce queue wait times and unexpected problems.</a:t>
            </a:r>
            <a:endParaRPr lang="en-US" sz="11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23577" y="411435"/>
            <a:ext cx="3865736" cy="2199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D73AD7"/>
                </a:solidFill>
                <a:latin typeface="Source Serif 4 SemiBold" pitchFamily="34" charset="0"/>
                <a:ea typeface="Source Serif 4 SemiBold" pitchFamily="34" charset="-122"/>
                <a:cs typeface="Source Serif 4 SemiBold" pitchFamily="34" charset="-120"/>
              </a:rPr>
              <a:t>Financial Control: The Host's Dashboard</a:t>
            </a:r>
            <a:endParaRPr lang="en-US" sz="1350" dirty="0"/>
          </a:p>
        </p:txBody>
      </p:sp>
      <p:sp>
        <p:nvSpPr>
          <p:cNvPr id="3" name="Text 1"/>
          <p:cNvSpPr/>
          <p:nvPr/>
        </p:nvSpPr>
        <p:spPr>
          <a:xfrm>
            <a:off x="523577" y="2591395"/>
            <a:ext cx="1750888" cy="1099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650" dirty="0">
                <a:solidFill>
                  <a:srgbClr val="D73AD7"/>
                </a:solidFill>
                <a:latin typeface="Source Serif 4 SemiBold" pitchFamily="34" charset="0"/>
                <a:ea typeface="Source Serif 4 SemiBold" pitchFamily="34" charset="-122"/>
                <a:cs typeface="Source Serif 4 SemiBold" pitchFamily="34" charset="-120"/>
              </a:rPr>
              <a:t>Full Visibility, Zero Guesswork</a:t>
            </a:r>
            <a:endParaRPr lang="en-US" sz="650" dirty="0"/>
          </a:p>
        </p:txBody>
      </p:sp>
      <p:sp>
        <p:nvSpPr>
          <p:cNvPr id="4" name="Text 2"/>
          <p:cNvSpPr/>
          <p:nvPr/>
        </p:nvSpPr>
        <p:spPr>
          <a:xfrm>
            <a:off x="523577" y="2738735"/>
            <a:ext cx="4414391" cy="8974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550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Hosts maintain complete financial oversight — from the first ticket sold to the final balance sheet.</a:t>
            </a:r>
            <a:endParaRPr lang="en-US" sz="55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667994" y="729481"/>
            <a:ext cx="3957191" cy="3957191"/>
          </a:xfrm>
          <a:prstGeom prst="rect">
            <a:avLst/>
          </a:prstGeom>
        </p:spPr>
      </p:pic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23577" y="4770760"/>
            <a:ext cx="2673995" cy="480492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645988" y="4855071"/>
            <a:ext cx="1065386" cy="1099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650" dirty="0">
                <a:solidFill>
                  <a:srgbClr val="272525"/>
                </a:solidFill>
                <a:latin typeface="Source Serif 4 SemiBold" pitchFamily="34" charset="0"/>
                <a:ea typeface="Source Serif 4 SemiBold" pitchFamily="34" charset="-122"/>
                <a:cs typeface="Source Serif 4 SemiBold" pitchFamily="34" charset="-120"/>
              </a:rPr>
              <a:t>Live Revenue Monitoring</a:t>
            </a:r>
            <a:endParaRPr lang="en-US" sz="650" dirty="0"/>
          </a:p>
        </p:txBody>
      </p:sp>
      <p:sp>
        <p:nvSpPr>
          <p:cNvPr id="8" name="Text 4"/>
          <p:cNvSpPr/>
          <p:nvPr/>
        </p:nvSpPr>
        <p:spPr>
          <a:xfrm>
            <a:off x="645988" y="4987454"/>
            <a:ext cx="2467273" cy="8974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550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Track ticket sales and revenue streams in real time as the event unfolds.</a:t>
            </a:r>
            <a:endParaRPr lang="en-US" sz="550" dirty="0"/>
          </a:p>
        </p:txBody>
      </p:sp>
      <p:pic>
        <p:nvPicPr>
          <p:cNvPr id="9" name="Image 2" descr="preencoded.png">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3234928" y="4770760"/>
            <a:ext cx="2674069" cy="480492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3357339" y="4855071"/>
            <a:ext cx="1018059" cy="1099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650" dirty="0">
                <a:solidFill>
                  <a:srgbClr val="272525"/>
                </a:solidFill>
                <a:latin typeface="Source Serif 4 SemiBold" pitchFamily="34" charset="0"/>
                <a:ea typeface="Source Serif 4 SemiBold" pitchFamily="34" charset="-122"/>
                <a:cs typeface="Source Serif 4 SemiBold" pitchFamily="34" charset="-120"/>
              </a:rPr>
              <a:t>Automated Calculations</a:t>
            </a:r>
            <a:endParaRPr lang="en-US" sz="650" dirty="0"/>
          </a:p>
        </p:txBody>
      </p:sp>
      <p:sp>
        <p:nvSpPr>
          <p:cNvPr id="11" name="Text 6"/>
          <p:cNvSpPr/>
          <p:nvPr/>
        </p:nvSpPr>
        <p:spPr>
          <a:xfrm>
            <a:off x="3357339" y="4987454"/>
            <a:ext cx="2467347" cy="17948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550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Integrated tools generate balance sheets and financial summaries without manual effort.</a:t>
            </a:r>
            <a:endParaRPr lang="en-US" sz="550" dirty="0"/>
          </a:p>
        </p:txBody>
      </p:sp>
      <p:pic>
        <p:nvPicPr>
          <p:cNvPr id="12" name="Image 3" descr="preencoded.png">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5946353" y="4770760"/>
            <a:ext cx="2674069" cy="480492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6068764" y="4855071"/>
            <a:ext cx="880021" cy="1099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650" dirty="0">
                <a:solidFill>
                  <a:srgbClr val="272525"/>
                </a:solidFill>
                <a:latin typeface="Source Serif 4 SemiBold" pitchFamily="34" charset="0"/>
                <a:ea typeface="Source Serif 4 SemiBold" pitchFamily="34" charset="-122"/>
                <a:cs typeface="Source Serif 4 SemiBold" pitchFamily="34" charset="-120"/>
              </a:rPr>
              <a:t>Actionable Insights</a:t>
            </a:r>
            <a:endParaRPr lang="en-US" sz="650" dirty="0"/>
          </a:p>
        </p:txBody>
      </p:sp>
      <p:sp>
        <p:nvSpPr>
          <p:cNvPr id="14" name="Text 8"/>
          <p:cNvSpPr/>
          <p:nvPr/>
        </p:nvSpPr>
        <p:spPr>
          <a:xfrm>
            <a:off x="6068764" y="4987454"/>
            <a:ext cx="2467347" cy="8974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550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Close out each event with data-driven learnings to improve future productions.</a:t>
            </a:r>
            <a:endParaRPr lang="en-US" sz="5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/>
  <cp:revision>1</cp:revision>
  <dcterms:created xsi:type="dcterms:W3CDTF">2026-07-04T14:08:32Z</dcterms:created>
  <dcterms:modified xsi:type="dcterms:W3CDTF">2026-07-04T14:08:32Z</dcterms:modified>
</cp:coreProperties>
</file>